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11ed398d924745" /><Relationship Type="http://schemas.openxmlformats.org/officeDocument/2006/relationships/extended-properties" Target="/docProps/app.xml" Id="R8bd55409a3fa4428" /><Relationship Type="http://schemas.openxmlformats.org/officeDocument/2006/relationships/officeDocument" Target="/ppt/presentation.xml" Id="R0d497826bb4c40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f6bd769ce744a4"/>
  </p:sldMasterIdLst>
  <p:notesMasterIdLst>
    <p:notesMasterId xmlns:r="http://schemas.openxmlformats.org/officeDocument/2006/relationships" r:id="Rde4452e1ffcb45e5"/>
  </p:notesMasterIdLst>
  <p:sldIdLst>
    <p:sldId xmlns:r="http://schemas.openxmlformats.org/officeDocument/2006/relationships" id="256" r:id="Rf54417e13545457a"/>
    <p:sldId xmlns:r="http://schemas.openxmlformats.org/officeDocument/2006/relationships" id="257" r:id="R9ec28e277a8440e6"/>
    <p:sldId xmlns:r="http://schemas.openxmlformats.org/officeDocument/2006/relationships" id="258" r:id="R26f50af60b544024"/>
    <p:sldId xmlns:r="http://schemas.openxmlformats.org/officeDocument/2006/relationships" id="259" r:id="Rec41170902544400"/>
    <p:sldId xmlns:r="http://schemas.openxmlformats.org/officeDocument/2006/relationships" id="260" r:id="R28dbcef17d4c4fa4"/>
    <p:sldId xmlns:r="http://schemas.openxmlformats.org/officeDocument/2006/relationships" id="261" r:id="R8e85b7ca03da46cb"/>
    <p:sldId xmlns:r="http://schemas.openxmlformats.org/officeDocument/2006/relationships" id="262" r:id="Rb0e49954645a4a98"/>
    <p:sldId xmlns:r="http://schemas.openxmlformats.org/officeDocument/2006/relationships" id="263" r:id="Rdc684bb2e2cb4eec"/>
    <p:sldId xmlns:r="http://schemas.openxmlformats.org/officeDocument/2006/relationships" id="264" r:id="Ree7227ee1c264a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634b214cd40ce" /><Relationship Type="http://schemas.openxmlformats.org/officeDocument/2006/relationships/slideMaster" Target="/ppt/slideMasters/slideMaster1.xml" Id="R3cf6bd769ce744a4" /><Relationship Type="http://schemas.openxmlformats.org/officeDocument/2006/relationships/notesMaster" Target="/ppt/notesMasters/notesMaster1.xml" Id="Rde4452e1ffcb45e5" /><Relationship Type="http://schemas.openxmlformats.org/officeDocument/2006/relationships/presProps" Target="/ppt/presProps.xml" Id="R47036ee937a04d13" /><Relationship Type="http://schemas.openxmlformats.org/officeDocument/2006/relationships/tableStyles" Target="/ppt/tableStyles.xml" Id="Rb68af1706c4f447f" /><Relationship Type="http://schemas.openxmlformats.org/officeDocument/2006/relationships/slide" Target="/ppt/slides/slide1.xml" Id="Rf54417e13545457a" /><Relationship Type="http://schemas.openxmlformats.org/officeDocument/2006/relationships/slide" Target="/ppt/slides/slide2.xml" Id="R9ec28e277a8440e6" /><Relationship Type="http://schemas.openxmlformats.org/officeDocument/2006/relationships/slide" Target="/ppt/slides/slide3.xml" Id="R26f50af60b544024" /><Relationship Type="http://schemas.openxmlformats.org/officeDocument/2006/relationships/slide" Target="/ppt/slides/slide4.xml" Id="Rec41170902544400" /><Relationship Type="http://schemas.openxmlformats.org/officeDocument/2006/relationships/slide" Target="/ppt/slides/slide5.xml" Id="R28dbcef17d4c4fa4" /><Relationship Type="http://schemas.openxmlformats.org/officeDocument/2006/relationships/slide" Target="/ppt/slides/slide6.xml" Id="R8e85b7ca03da46cb" /><Relationship Type="http://schemas.openxmlformats.org/officeDocument/2006/relationships/slide" Target="/ppt/slides/slide7.xml" Id="Rb0e49954645a4a98" /><Relationship Type="http://schemas.openxmlformats.org/officeDocument/2006/relationships/slide" Target="/ppt/slides/slide8.xml" Id="Rdc684bb2e2cb4eec" /><Relationship Type="http://schemas.openxmlformats.org/officeDocument/2006/relationships/slide" Target="/ppt/slides/slide9.xml" Id="Ree7227ee1c264a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712822afd4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0928ec900430b" /><Relationship Type="http://schemas.openxmlformats.org/officeDocument/2006/relationships/notesMaster" Target="/ppt/notesMasters/notesMaster1.xml" Id="R5d59d3f2ece1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0b514a9d604990" /><Relationship Type="http://schemas.openxmlformats.org/officeDocument/2006/relationships/notesMaster" Target="/ppt/notesMasters/notesMaster1.xml" Id="R275fbbddcbbc43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53b8490e8b45b5" /><Relationship Type="http://schemas.openxmlformats.org/officeDocument/2006/relationships/notesMaster" Target="/ppt/notesMasters/notesMaster1.xml" Id="Rf83ca97b117941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b272370d624e11" /><Relationship Type="http://schemas.openxmlformats.org/officeDocument/2006/relationships/notesMaster" Target="/ppt/notesMasters/notesMaster1.xml" Id="R9465b2b9964c47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d3c6b8f908451e" /><Relationship Type="http://schemas.openxmlformats.org/officeDocument/2006/relationships/notesMaster" Target="/ppt/notesMasters/notesMaster1.xml" Id="R4929a9ed27a54d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5525a8f29b4d74" /><Relationship Type="http://schemas.openxmlformats.org/officeDocument/2006/relationships/notesMaster" Target="/ppt/notesMasters/notesMaster1.xml" Id="Ree359072b5d147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bca0a1ec0b4a87" /><Relationship Type="http://schemas.openxmlformats.org/officeDocument/2006/relationships/notesMaster" Target="/ppt/notesMasters/notesMaster1.xml" Id="R13610ce4a28947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c509036dec47bf" /><Relationship Type="http://schemas.openxmlformats.org/officeDocument/2006/relationships/notesMaster" Target="/ppt/notesMasters/notesMaster1.xml" Id="Refa285653b3c4f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c3a1f93e3c4b62" /><Relationship Type="http://schemas.openxmlformats.org/officeDocument/2006/relationships/notesMaster" Target="/ppt/notesMasters/notesMaster1.xml" Id="R03ac0599a2ad49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次我負責調查攻擊測試工具，規劃如何驗證本地端的流量判斷。依目前討論，合法流量會放行，不合法流量會封鎖，不清楚的流量則送到雲端分析。我會把工具配上測試案例、對應規則和預期結果，確認系統是否依政策處理。這份內容目前是資料調查與測試規劃，環境進度由負責搭建的同學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來源（查閱日期 2026-10-01）：</a:t>
            </a:r>
          </a:p>
          <a:p xmlns:a="http://schemas.openxmlformats.org/drawingml/2006/main">
            <a:r>
              <a:t>架構依據：使用者本次補充的黃老師研究方向</a:t>
            </a:r>
          </a:p>
          <a:p xmlns:a="http://schemas.openxmlformats.org/drawingml/2006/main">
            <a:r>
              <a:t>https://nmap.org/nping/</a:t>
            </a:r>
          </a:p>
          <a:p xmlns:a="http://schemas.openxmlformats.org/drawingml/2006/main">
            <a:r>
              <a:t>https://docs.suricata.io/en/suricata-8.0.2/rules/intro.html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公開規則可以先從 ET Open 和 Snort Community Rules 開始。這些是規則集，Suricata 和 Snort 才是執行規則的引擎。取得規則後，需要確認版本相容，以及引擎是否支援規則要求的協定解析和內容比對。不能把整套規則直接貼進 XDP 或 nftables。另外，alert 代表產生告警，drop 才代表丟棄。實際封鎖仍要確認流量有經過能阻擋的部署位置。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來源（查閱日期 2026-10-01）：</a:t>
            </a:r>
          </a:p>
          <a:p xmlns:a="http://schemas.openxmlformats.org/drawingml/2006/main">
            <a:r>
              <a:t>https://docs.suricata.io/en/suricata-8.0.2/rules/intro.html</a:t>
            </a:r>
          </a:p>
          <a:p xmlns:a="http://schemas.openxmlformats.org/drawingml/2006/main">
            <a:r>
              <a:t>https://docs.suricata.io/en/latest/rule-management/suricata-update.html</a:t>
            </a:r>
          </a:p>
          <a:p xmlns:a="http://schemas.openxmlformats.org/drawingml/2006/main">
            <a:r>
              <a:t>https://www.snort.org/downloads/#rules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目前整理六種工具。Nping 和 hping3 都能產生自訂封包，第一輪先選 Nping。Nmap 補充連接埠掃描。Tcpreplay 則在公開規則和對應 PCAP 準備好後，重播固定樣本。HTTP 服務完成後再加入 SlowHTTPTest，測試慢速連線情境。Scapy 需要寫 Python，比較適合第二階段，針對規則製作精準的正反樣本。這個順序依測試需求安排，尚無實測效能排名。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來源（查閱日期 2026-10-01）：</a:t>
            </a:r>
          </a:p>
          <a:p xmlns:a="http://schemas.openxmlformats.org/drawingml/2006/main">
            <a:r>
              <a:t>https://nmap.org/nping/</a:t>
            </a:r>
          </a:p>
          <a:p xmlns:a="http://schemas.openxmlformats.org/drawingml/2006/main">
            <a:r>
              <a:t>https://github.com/antirez/hping</a:t>
            </a:r>
          </a:p>
          <a:p xmlns:a="http://schemas.openxmlformats.org/drawingml/2006/main">
            <a:r>
              <a:t>https://nmap.org/book/man-port-scanning-basics.html</a:t>
            </a:r>
          </a:p>
          <a:p xmlns:a="http://schemas.openxmlformats.org/drawingml/2006/main">
            <a:r>
              <a:t>https://github.com/shekyan/slowhttptest/wiki</a:t>
            </a:r>
          </a:p>
          <a:p xmlns:a="http://schemas.openxmlformats.org/drawingml/2006/main">
            <a:r>
              <a:t>https://tcpreplay.appneta.com/</a:t>
            </a:r>
          </a:p>
          <a:p xmlns:a="http://schemas.openxmlformats.org/drawingml/2006/main">
            <a:r>
              <a:t>https://scapy.readthedocs.io/en/stable/introduction.html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Nping 和 hping3 都能產生指定封包。TCP SYN 是開始建立連線的訊號，UDP 和 ICMP 則提供其他協定案例。規劃上，先用有限封包數核對 IP、port 和 TCP flags，再測試已選規則的速率門檻。第一輪先用 Nping，hping3 留作備選。工具設定的速率還要用抓包核對。送出很多封包不代表 DoS 成功，仍要觀察正常請求的成功率與耗時。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來源（查閱日期 2026-10-01）：</a:t>
            </a:r>
          </a:p>
          <a:p xmlns:a="http://schemas.openxmlformats.org/drawingml/2006/main">
            <a:r>
              <a:t>https://nmap.org/nping/</a:t>
            </a:r>
          </a:p>
          <a:p xmlns:a="http://schemas.openxmlformats.org/drawingml/2006/main">
            <a:r>
              <a:t>https://nmap.org/book/nping-man.html</a:t>
            </a:r>
          </a:p>
          <a:p xmlns:a="http://schemas.openxmlformats.org/drawingml/2006/main">
            <a:r>
              <a:t>https://github.com/antirez/hping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Nmap 可以探測目標有哪些 port 開放，適合產生連接埠掃描行為。我們規劃比較正常連到服務的流量，以及同一來源在一段時間內探測多個 port 的流量，確認是否觸發掃描規則。判斷需要依專題政策決定時間範圍與探測次數。掃描也有管理用途，單次連線不足以證明攻擊。Nmap 顯示 filtered，只代表它觀察到的狀態，還要配合 Gateway 紀錄確認原因。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來源（查閱日期 2026-10-01）：</a:t>
            </a:r>
          </a:p>
          <a:p xmlns:a="http://schemas.openxmlformats.org/drawingml/2006/main">
            <a:r>
              <a:t>https://nmap.org/book/man-port-scanning-basics.html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SlowHTTPTest 模擬慢速 HTTP 行為，例如慢慢傳送請求，或慢慢讀取回應，讓伺服器持續保留連線。這類流量不一定很大，只看 IP、port 或頻寬可能不足以辨識。我們規劃在 HTTP 服務完成後，觀察連線數與逾時，同時持續送正常請求，確認相關規則能否辨識及是否影響服務。伺服器的連線限制和逾時設定也會影響結果，這些需要一起記錄。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來源（查閱日期 2026-10-01）：</a:t>
            </a:r>
          </a:p>
          <a:p xmlns:a="http://schemas.openxmlformats.org/drawingml/2006/main">
            <a:r>
              <a:t>https://github.com/shekyan/slowhttptest/wiki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Tcpreplay 可以重播 PCAP 裡記錄的封包，適合以固定樣本驗證公開規則。需要確認 IP、MAC、方向和流量完整性；原樣重播也不會自動建立新的正常 TCP 對話。Scapy 則能用 Python 自訂封包，製作應該命中和不應該命中的對照樣本。規劃上先選規則，再準備樣本。如果規則需要完整 HTTP 或 TCP 連線，就要提供符合那些條件的流量。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來源（查閱日期 2026-10-01）：</a:t>
            </a:r>
          </a:p>
          <a:p xmlns:a="http://schemas.openxmlformats.org/drawingml/2006/main">
            <a:r>
              <a:t>https://tcpreplay.appneta.com/</a:t>
            </a:r>
          </a:p>
          <a:p xmlns:a="http://schemas.openxmlformats.org/drawingml/2006/main">
            <a:r>
              <a:t>https://tcpreplay.appneta.com/concepts/replay-model/</a:t>
            </a:r>
          </a:p>
          <a:p xmlns:a="http://schemas.openxmlformats.org/drawingml/2006/main">
            <a:r>
              <a:t>https://scapy.readthedocs.io/en/stable/introduction.html</a:t>
            </a:r>
          </a:p>
          <a:p xmlns:a="http://schemas.openxmlformats.org/drawingml/2006/main">
            <a:r>
              <a:t>https://docs.suricata.io/en/suricata-8.0.2/rules/intro.html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種結果要分開驗證。合法案例用正常請求，確認服務成功回應；不合法案例用符合已選規則的流量，確認規則命中而且確實阻擋。不清楚案例則依專題定義，確認資料送到雲端，收到回覆後有相應處置。每次記錄預期與實際分類，並保留 Gateway、雲端與服務端紀錄。沒有命中攻擊規則，不能直接視為合法，也不會自動變成不清楚。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來源（查閱日期 2026-10-01）：</a:t>
            </a:r>
          </a:p>
          <a:p xmlns:a="http://schemas.openxmlformats.org/drawingml/2006/main">
            <a:r>
              <a:t>架構依據：使用者本次補充的三種流量分類與處置</a:t>
            </a:r>
          </a:p>
          <a:p xmlns:a="http://schemas.openxmlformats.org/drawingml/2006/main">
            <a:r>
              <a:t>https://docs.suricata.io/en/suricata-8.0.2/rules/intro.html</a:t>
            </a:r>
          </a:p>
          <a:p xmlns:a="http://schemas.openxmlformats.org/drawingml/2006/main">
            <a:r>
              <a:t>https://curl.se/docs/manpage.html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第一輪先確認正常服務和回程，再選少量明確規則，用 Nping 和 Nmap 逐項驗證；對應 PCAP 準備好後加入 Tcpreplay。接著依待分析政策測試雲端分流。HTTP 服務完成後，再安排 SlowHTTPTest 和負載比較。開始前要和環境同學確認拓樸、介面、規則引擎、封鎖位置與雲端接收方式。每個案例記錄規則編號、預期和實際分類，以及正常服務影響，供下一次會議討論。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來源（查閱日期 2026-10-01）：</a:t>
            </a:r>
          </a:p>
          <a:p xmlns:a="http://schemas.openxmlformats.org/drawingml/2006/main">
            <a:r>
              <a:t>https://nmap.org/book/nping-man.html</a:t>
            </a:r>
          </a:p>
          <a:p xmlns:a="http://schemas.openxmlformats.org/drawingml/2006/main">
            <a:r>
              <a:t>https://nmap.org/book/man-port-scanning-basics.html</a:t>
            </a:r>
          </a:p>
          <a:p xmlns:a="http://schemas.openxmlformats.org/drawingml/2006/main">
            <a:r>
              <a:t>https://tcpreplay.appneta.com/</a:t>
            </a:r>
          </a:p>
          <a:p xmlns:a="http://schemas.openxmlformats.org/drawingml/2006/main">
            <a:r>
              <a:t>https://github.com/shekyan/slowhttptest/wiki</a:t>
            </a:r>
          </a:p>
          <a:p xmlns:a="http://schemas.openxmlformats.org/drawingml/2006/main">
            <a:r>
              <a:t>https://docs.suricata.io/en/suricata-8.0.2/rules/intro.html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4524e6f6e40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3cd1552e354a18" /><Relationship Type="http://schemas.openxmlformats.org/officeDocument/2006/relationships/slideLayout" Target="/ppt/slideLayouts/slideLayout1.xml" Id="R15cc59319b754b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cc59319b754b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bbdaf6e9c4a13" /><Relationship Type="http://schemas.openxmlformats.org/officeDocument/2006/relationships/notesSlide" Target="/ppt/notesSlides/notesSlide1.xml" Id="Rc98e876693d04a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8e5289820401e" /><Relationship Type="http://schemas.openxmlformats.org/officeDocument/2006/relationships/notesSlide" Target="/ppt/notesSlides/notesSlide2.xml" Id="Reacd7d2aaf9043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cd9396a7d48d3" /><Relationship Type="http://schemas.openxmlformats.org/officeDocument/2006/relationships/notesSlide" Target="/ppt/notesSlides/notesSlide3.xml" Id="R8e9c89289b6644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af92ac6dc4e89" /><Relationship Type="http://schemas.openxmlformats.org/officeDocument/2006/relationships/notesSlide" Target="/ppt/notesSlides/notesSlide4.xml" Id="Ra1a67089cd9040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f80586a174974" /><Relationship Type="http://schemas.openxmlformats.org/officeDocument/2006/relationships/notesSlide" Target="/ppt/notesSlides/notesSlide5.xml" Id="R0b21db1c8e4e40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60acd2a914aea" /><Relationship Type="http://schemas.openxmlformats.org/officeDocument/2006/relationships/notesSlide" Target="/ppt/notesSlides/notesSlide6.xml" Id="Rc89e04cf1dbb42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9e97c23324627" /><Relationship Type="http://schemas.openxmlformats.org/officeDocument/2006/relationships/notesSlide" Target="/ppt/notesSlides/notesSlide7.xml" Id="R6f3009c0751d4d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dde1349584623" /><Relationship Type="http://schemas.openxmlformats.org/officeDocument/2006/relationships/notesSlide" Target="/ppt/notesSlides/notesSlide8.xml" Id="R54bb2890563b4b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71b6f3c834388" /><Relationship Type="http://schemas.openxmlformats.org/officeDocument/2006/relationships/notesSlide" Target="/ppt/notesSlides/notesSlide9.xml" Id="R01c6b6b6b84c48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66385-F180-4643-A64E-593FEDCF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網路攻擊工具與規則測試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6E55F-74D7-4E7A-A045-C2331216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0E975-CCFD-48B2-A795-3A1B1DE0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工具調查與測試規劃，尚未實測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0C414-9723-4F9E-BC9D-F7C499F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0F104-C38D-4F72-8A51-0092D486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測試目標：驗證本地 filter 的判斷與後續處置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571750"/>
                <a:gridCol w="6448425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本地分類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系統處理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需要驗證的行為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放行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正常服務可用，流量沒有遭到誤擋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不合法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封鎖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指定規則命中，Gateway 確實阻擋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送雲端分析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雲端收到資料，回覆後依政策處置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4863F-3E3D-4B14-AD5C-12178359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rPr>
              <a:t>我的交付：工具資料、測試案例，以及每個案例的預期結果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212C8-5A46-4B76-8025-B4FEAF16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本次尚未執行安裝或測試，環境與雲端流程待確認。</a:t>
            </a:r>
          </a:p>
        </p:txBody>
      </p:sp>
    </p:spTree>
    <p:extLst>
      <p:ext uri="{BB962C8B-B14F-4D97-AF65-F5344CB8AC3E}">
        <p14:creationId xmlns:p14="http://schemas.microsoft.com/office/powerpoint/2010/main" val="1622826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30F73-D3AB-414A-9E10-2902064F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公開規則的來源與用途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E3392-2866-44EA-92CD-09964F8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C8F4F-E7C1-4477-800E-2AFFFB3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工具調查與測試規劃，尚未實測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1A202-8253-4942-9AF0-37494617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048125"/>
                <a:gridCol w="4210050"/>
              </a:tblGrid>
              <a:tr h="679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公開規則來源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對應的規則執行環境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本次用途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679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ET Open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Suricata 等相容引擎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挑選已知攻擊特徵與對應樣本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9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Snort Community Rules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相容版本的 Snort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作為另一個公開規則來源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1AAD1-110D-4CE6-BE92-C04CEE87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規則動作與專題分類需要分開確認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4410075"/>
          <a:ext xmlns:a="http://schemas.openxmlformats.org/drawingml/2006/main" cx="10972800" cy="1390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714625"/>
                <a:gridCol w="6448425"/>
              </a:tblGrid>
              <a:tr h="463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規則動作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含義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部署條件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463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alert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產生告警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另外核對專題是否接上封鎖流程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drop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丟棄封包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配合 inline／IPS 或相應封鎖實作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BE297-2BC8-417C-B895-05756676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rPr>
              <a:t>HTTP／TCP stream 規則可能需要解析與重組，須確認引擎能力。</a:t>
            </a:r>
          </a:p>
        </p:txBody>
      </p:sp>
    </p:spTree>
    <p:extLst>
      <p:ext uri="{BB962C8B-B14F-4D97-AF65-F5344CB8AC3E}">
        <p14:creationId xmlns:p14="http://schemas.microsoft.com/office/powerpoint/2010/main" val="1710545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7FAA9-951D-40FD-AEF3-F4615C8B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六種候選工具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7AB7C-CD79-4A6C-A4E1-0DC8373C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E7F07-8722-4F98-AAC3-46DB05F6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工具調查與測試規劃，尚未實測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ABCDF-5DD0-4131-8169-CA7E14A5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524250"/>
                <a:gridCol w="5353050"/>
              </a:tblGrid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提供的流量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本專題用途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Nping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TCP、UDP、ICMP 等封包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封包條件、速率門檻與負載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hping3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自訂 TCP/IP 封包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Nping 的備選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連接埠探測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掃描行為與相關規則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SlowHTTPTest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慢速 HTTP 連線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連線占用、逾時與服務影響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Tcpreplay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PCAP 記錄的封包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重播已知特徵，驗證公開規則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Scapy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自訂封包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精準樣本與規則邊界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7C25E-B2E1-441F-98ED-2EAA1C9B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rPr>
              <a:t>第一輪：Nping、Nmap，規則與 PCAP 就緒後加入 Tcpreplay。</a:t>
            </a:r>
          </a:p>
        </p:txBody>
      </p:sp>
    </p:spTree>
    <p:extLst>
      <p:ext uri="{BB962C8B-B14F-4D97-AF65-F5344CB8AC3E}">
        <p14:creationId xmlns:p14="http://schemas.microsoft.com/office/powerpoint/2010/main" val="41335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EBEB3-B62D-4816-A43A-08746F9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Nping 與 hping3：封包測試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AAC60-398E-4616-A18E-A3A47FE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757BD-5C41-43C3-A9DF-31239F6A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工具調查與測試規劃，尚未實測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E74D4-0950-461E-BD14-4AF8BC90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9C41B-42C4-4C56-8C58-0577697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可設定協定、目的 port、封包數量與發送速率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286250"/>
                <a:gridCol w="4352925"/>
              </a:tblGrid>
              <a:tr h="6834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測試情境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產生端準備的流量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Gateway 檢查項目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6834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TCP SYN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指定目的 port 的 SYN 封包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TCP flags、連線相關政策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UDP／ICMP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指定協定與數量的封包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協定規則與允許條件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  <a:tr h="6834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速率門檻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門檻兩側的對照流量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實際速率、命中與丟棄計數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915A4-18AD-4E14-B448-2E61AC4C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先核對封包特徵，再逐步增加負載。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56BB4-2371-4546-9DEE-56F1574A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rPr>
              <a:t>DoS 防護還要量測：正常請求成功率、耗時，以及資源使用。</a:t>
            </a:r>
          </a:p>
        </p:txBody>
      </p:sp>
    </p:spTree>
    <p:extLst>
      <p:ext uri="{BB962C8B-B14F-4D97-AF65-F5344CB8AC3E}">
        <p14:creationId xmlns:p14="http://schemas.microsoft.com/office/powerpoint/2010/main" val="1459058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27FEE-AF34-4E06-AA31-EAE96D63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Nmap：連接埠掃描測試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426CA-88E9-4BA7-A7A5-02960F59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EB48F-8DD6-4217-AE01-3DC2F25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工具調查與測試規劃，尚未實測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19325-90D6-4EC9-AB3D-D416AB0F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4DE1B-87E9-40E2-AEFF-4DD6DE93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觀察重點：同一來源在一段時間內探測多個 port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210050"/>
                <a:gridCol w="4238625"/>
              </a:tblGrid>
              <a:tr h="698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對照案例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流量差異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預期檢查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698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正常服務連線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連到約定的服務 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服務正常，沒有觸發誤擋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連接埠掃描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探測多個目的 port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依掃描規則與專題政策判定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45500-CF8D-4343-A46C-0D2D449C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規則需明確設定時間範圍、次數與判斷條件。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0ED78-D520-4175-B8F8-E1D02A0E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驗證證據：掃描 PCAP、規則告警、Gateway 計數與處置紀錄。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C9A91-6C17-498F-ADF0-4F2CE70F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rPr>
              <a:t>filtered 是 Nmap 的觀察結果，仍需確認封鎖原因。</a:t>
            </a:r>
          </a:p>
        </p:txBody>
      </p:sp>
    </p:spTree>
    <p:extLst>
      <p:ext uri="{BB962C8B-B14F-4D97-AF65-F5344CB8AC3E}">
        <p14:creationId xmlns:p14="http://schemas.microsoft.com/office/powerpoint/2010/main" val="1654218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C9F33-50D6-46D6-803D-2CB5545A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SlowHTTPTest：慢速 HTTP 測試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D76FD-7938-42F7-91C1-0F04DF80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74EF4-8934-4C4D-82A1-7590B916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工具調查與測試規劃，尚未實測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DEE20-C41B-47E8-87C1-D22C0B67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B7936-9CA4-4DE7-872F-27BE79DF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機制：延長 HTTP 連線，持續占用服務端資源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572000"/>
                <a:gridCol w="3876675"/>
              </a:tblGrid>
              <a:tr h="6453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模式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流量行為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觀察項目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6453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Slow headers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延遲完成 HTTP headers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未完成請求與逾時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53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Slow POST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慢慢傳送 request body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連線占用與服務可用性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  <a:tr h="6453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Slow Read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慢慢讀取伺服器回應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回應連線與資源占用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7E1D7-F406-4F6B-A245-E02EE3DE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前提：HTTP 伺服器，以及正常 HTTP 請求作為對照。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7EA5F-8C83-4C62-A409-AF714185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rPr>
              <a:t>低流量仍可能有服務影響，需配合連線與應用層觀察。</a:t>
            </a:r>
          </a:p>
        </p:txBody>
      </p:sp>
    </p:spTree>
    <p:extLst>
      <p:ext uri="{BB962C8B-B14F-4D97-AF65-F5344CB8AC3E}">
        <p14:creationId xmlns:p14="http://schemas.microsoft.com/office/powerpoint/2010/main" val="62647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4EEFA-81D5-4DA3-811A-8DCD486D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Tcpreplay 與 Scapy：規則樣本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0FEDF-785E-4A8C-8F83-5D80C75B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0D3E3-2D38-4D35-A73B-069F3D7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工具調查與測試規劃，尚未實測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3FCFD-E997-4F9F-A427-CC4F1B13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028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86250"/>
                <a:gridCol w="421005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如何準備樣本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最適合的用途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Tcpreplay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重播已有 PCAP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固定樣本、規則版本比較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Scapy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自訂封包欄位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精準命中與不命中的對照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46711-55C3-48C8-8FEE-0E138191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每個案例都要先有對應的規則與預期結果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44672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381375"/>
                <a:gridCol w="2381250"/>
                <a:gridCol w="26860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規則／SID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預期分類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驗證證據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選定規則編號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命中與不命中對照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依專題政策設定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告警、丟棄與服務紀錄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A6375-1177-4BA9-859B-06993909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rPr>
              <a:t>需核對位址、方向及連線條件，單一 payload 不保證命中。</a:t>
            </a:r>
          </a:p>
        </p:txBody>
      </p:sp>
    </p:spTree>
    <p:extLst>
      <p:ext uri="{BB962C8B-B14F-4D97-AF65-F5344CB8AC3E}">
        <p14:creationId xmlns:p14="http://schemas.microsoft.com/office/powerpoint/2010/main" val="637042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48B18-F950-41FA-A8F9-99CBB3B6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三種結果的測試與證據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F76B6-4F5C-4901-98B0-FAB974FC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0DE25-BA41-4737-A51D-869BA9E3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工具調查與測試規劃，尚未實測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20160-811D-4C43-8006-7564190A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409950"/>
                <a:gridCol w="1714500"/>
                <a:gridCol w="4086225"/>
              </a:tblGrid>
              <a:tr h="8429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預期分類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案例準備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預期處理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需要留下的證據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8429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 HTTP 等約定服務請求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放行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成功回應，沒有誤擋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不合法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符合已選定規則的樣本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封鎖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規則命中及實際阻擋紀錄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  <a:tr h="8429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符合待分析政策的案例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送雲端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接收紀錄、分析回覆與後續處置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A5119-2013-4A1F-B7E1-4CB678C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rPr>
              <a:t>「不清楚」需要明確定義，公開攻擊規則通常只提供命中條件。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CBD05-A705-49FA-B131-66A05095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未命中規則仍需依專題政策分類，不能直接推論合法。</a:t>
            </a:r>
          </a:p>
        </p:txBody>
      </p:sp>
    </p:spTree>
    <p:extLst>
      <p:ext uri="{BB962C8B-B14F-4D97-AF65-F5344CB8AC3E}">
        <p14:creationId xmlns:p14="http://schemas.microsoft.com/office/powerpoint/2010/main" val="1728626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FE2E1-F483-4299-947F-2445BC71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第一輪測試規劃與待確認事項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CFE58-A839-4202-8232-913AEE34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2A9C9-7384-4D7F-908D-586F77AD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工具調查與測試規劃，尚未實測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B27BE-B9D5-4E8B-BEBF-3917C1B8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8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095875"/>
                <a:gridCol w="3543300"/>
              </a:tblGrid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規劃內容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留下的紀錄</a:t>
                      </a:r>
                    </a:p>
                  </a:txBody>
                  <a:tcPr marL="91440" marR="91440" marT="45720" marB="45720" anchor="ctr">
                    <a:solidFill>
                      <a:srgbClr val="20383A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 正常通路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確認服務、回程及流量經過 Gateway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正常請求與通路紀錄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 指定規則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Nping、Nmap，PCAP 就緒後用 Tcpreplay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規則編號、PCAP、處置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 雲端分流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驗證符合待分析政策的案例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雲端接收、回覆與處置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 擴充負載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HTTP 就緒後加入 SlowHTTPTest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8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實際負載、正常服務影響</a:t>
                      </a:r>
                    </a:p>
                  </a:txBody>
                  <a:tcPr marL="91440" marR="91440" marT="45720" marB="45720" anchor="ctr">
                    <a:solidFill>
                      <a:srgbClr val="F1F4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0AB52-C846-4675-8CEE-0156C9AE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0383A"/>
                </a:solidFill>
                <a:latin typeface="Microsoft JhengHei"/>
                <a:ea typeface="Microsoft JhengHei"/>
                <a:cs typeface="Microsoft JhengHei"/>
              </a:rPr>
              <a:t>需和環境同學確認：拓樸與介面、規則引擎、封鎖位置。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9B6C3-AE40-4307-8021-CB0F53B1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95526"/>
                </a:solidFill>
                <a:latin typeface="Microsoft JhengHei"/>
                <a:ea typeface="Microsoft JhengHei"/>
                <a:cs typeface="Microsoft JhengHei"/>
              </a:rPr>
              <a:t>需確認分類政策：何時送雲端、傳送哪些資料、回覆後如何處理。</a:t>
            </a:r>
          </a:p>
        </p:txBody>
      </p:sp>
    </p:spTree>
    <p:extLst>
      <p:ext uri="{BB962C8B-B14F-4D97-AF65-F5344CB8AC3E}">
        <p14:creationId xmlns:p14="http://schemas.microsoft.com/office/powerpoint/2010/main" val="1717152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2026-09-30T22:27:33.8120000Z</dcterms:created>
  <dcterms:modified xsi:type="dcterms:W3CDTF">2026-09-30T22:27:33.8120000Z</dcterms:modified>
</coreProperties>
</file>